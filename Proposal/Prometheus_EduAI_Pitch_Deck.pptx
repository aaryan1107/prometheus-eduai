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50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FAE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 6</c:v>
                </c:pt>
                <c:pt idx="1">
                  <c:v>Gr 7</c:v>
                </c:pt>
                <c:pt idx="2">
                  <c:v>Gr 8</c:v>
                </c:pt>
                <c:pt idx="3">
                  <c:v>Gr 9</c:v>
                </c:pt>
                <c:pt idx="4">
                  <c:v>Gr 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</c:v>
                </c:pt>
                <c:pt idx="1">
                  <c:v>69</c:v>
                </c:pt>
                <c:pt idx="2">
                  <c:v>77</c:v>
                </c:pt>
                <c:pt idx="3">
                  <c:v>63</c:v>
                </c:pt>
                <c:pt idx="4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5B-4A0D-8B1D-348447A015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F0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0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74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4754880" cy="4754880"/>
          </a:xfrm>
          <a:prstGeom prst="ellipse">
            <a:avLst/>
          </a:prstGeom>
          <a:solidFill>
            <a:srgbClr val="1FAE9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4023360"/>
            <a:ext cx="5120640" cy="512064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417320"/>
            <a:ext cx="2743200" cy="3163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17320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41732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APPROVAL PROPOSAL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2057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</a:t>
            </a:r>
            <a:r>
              <a:rPr lang="en-US" sz="6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EduAI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566928" y="3246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B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Learning.  Fairer Evaluation.  Stronger Integrity.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6928" y="388620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powered academic intelligence platform proposed for Prometheus School to strengthen learning, evaluation and academic integrity.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5440680"/>
            <a:ext cx="3108960" cy="0"/>
          </a:xfrm>
          <a:prstGeom prst="line">
            <a:avLst/>
          </a:prstGeom>
          <a:noFill/>
          <a:ln w="25400">
            <a:solidFill>
              <a:srgbClr val="1FAE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Aaryan Kansal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CHANGE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We Live With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2228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evaluation and integrity are managed across disconnected tools and manual effort.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" y="20482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55" y="2181027"/>
            <a:ext cx="337962" cy="337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066544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Resources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papers and answer keys live in many places, hard for students to find.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270248" y="182880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89704" y="20482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475" y="2181027"/>
            <a:ext cx="337962" cy="337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02936" y="2066544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Paper Analysis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07992" y="269748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wait days to learn where, and why, marks were lost.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7973568" y="182880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93024" y="20482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795" y="2181027"/>
            <a:ext cx="337962" cy="3379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06256" y="2066544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Marking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11312" y="269748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answer can be scored differently across teachers and sittings.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66928" y="365760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86384" y="38770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55" y="4009827"/>
            <a:ext cx="337962" cy="3379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9616" y="3895344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Rechecking Risk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04672" y="452628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scripts can be altered before re evaluation, weakening trust.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270248" y="365760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489704" y="38770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475" y="4009827"/>
            <a:ext cx="337962" cy="3379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02936" y="3895344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Motivation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07992" y="452628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engagement, students open practice tools rarely and irregularly.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7973568" y="3657600"/>
            <a:ext cx="345643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193024" y="3877056"/>
            <a:ext cx="603504" cy="60350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5795" y="4009827"/>
            <a:ext cx="337962" cy="3379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06256" y="3895344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11312" y="452628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lacks one live view of performance and integrity.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120640" cy="5120640"/>
          </a:xfrm>
          <a:prstGeom prst="ellipse">
            <a:avLst/>
          </a:prstGeom>
          <a:solidFill>
            <a:srgbClr val="1FAE9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Academic Intelligence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B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envisioned platform where students learn, practise and improve, while teachers evaluate with consistency and every record stays protected.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4040" y="3063240"/>
            <a:ext cx="1792224" cy="1737360"/>
          </a:xfrm>
          <a:prstGeom prst="roundRect">
            <a:avLst>
              <a:gd name="adj" fmla="val 8421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688" y="3374136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4040" y="408736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109064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6264" y="35661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A623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986888" y="3063240"/>
            <a:ext cx="1792224" cy="1737360"/>
          </a:xfrm>
          <a:prstGeom prst="roundRect">
            <a:avLst>
              <a:gd name="adj" fmla="val 8421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536" y="3374136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6888" y="408736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21912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79112" y="35661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A623"/>
                </a:solidFill>
              </a:rPr>
              <a:t>›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5199736" y="3063240"/>
            <a:ext cx="1792224" cy="1737360"/>
          </a:xfrm>
          <a:prstGeom prst="roundRect">
            <a:avLst>
              <a:gd name="adj" fmla="val 8421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3374136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99736" y="408736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34760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991960" y="35661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A623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Shape 16"/>
          <p:cNvSpPr/>
          <p:nvPr/>
        </p:nvSpPr>
        <p:spPr>
          <a:xfrm>
            <a:off x="7412584" y="3063240"/>
            <a:ext cx="1792224" cy="1737360"/>
          </a:xfrm>
          <a:prstGeom prst="roundRect">
            <a:avLst>
              <a:gd name="adj" fmla="val 8421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232" y="3374136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2584" y="408736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747608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204808" y="3566160"/>
            <a:ext cx="420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A623"/>
                </a:solidFill>
              </a:rPr>
              <a:t>›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9625432" y="3063240"/>
            <a:ext cx="1792224" cy="1737360"/>
          </a:xfrm>
          <a:prstGeom prst="roundRect">
            <a:avLst>
              <a:gd name="adj" fmla="val 8421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8080" y="3374136"/>
            <a:ext cx="566928" cy="5669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25432" y="408736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0960456" y="3172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621128" y="5257800"/>
            <a:ext cx="6949440" cy="548640"/>
          </a:xfrm>
          <a:prstGeom prst="roundRect">
            <a:avLst>
              <a:gd name="adj" fmla="val 50000"/>
            </a:avLst>
          </a:prstGeom>
          <a:solidFill>
            <a:srgbClr val="F5A623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2621128" y="5257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designed to assist teachers, never to replace them.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Five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five perspectives, working from the same trusted academic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2872" y="205740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8088" y="2404872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62" y="2589947"/>
            <a:ext cx="471099" cy="4710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2872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4040" y="3886200"/>
            <a:ext cx="1609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practise and track personal progress.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31440" y="205740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16656" y="2404872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730" y="2589947"/>
            <a:ext cx="471099" cy="4710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144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032608" y="3886200"/>
            <a:ext cx="1609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resources and evaluate with AI support.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90008" y="205740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75224" y="2404872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298" y="2589947"/>
            <a:ext cx="471099" cy="4710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0008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91176" y="3886200"/>
            <a:ext cx="1609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marking quality and subject performance.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48576" y="205740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933792" y="2404872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866" y="2589947"/>
            <a:ext cx="471099" cy="4710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8576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549744" y="3886200"/>
            <a:ext cx="1609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interventions from shared insight.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607144" y="2057400"/>
            <a:ext cx="2011680" cy="32004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0192360" y="2404872"/>
            <a:ext cx="841248" cy="84124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7434" y="2589947"/>
            <a:ext cx="471099" cy="47109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7144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808312" y="3886200"/>
            <a:ext cx="1609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academic health and integrity at a glance.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Library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structured, teacher approved resource system organised the way students actually study.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0749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2951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upload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770632"/>
            <a:ext cx="44714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chapter wise notes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papers and question banks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schemes and sample answers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Guidelines, revision and practice material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43434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organised by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4754880"/>
            <a:ext cx="676656" cy="384048"/>
          </a:xfrm>
          <a:prstGeom prst="roundRect">
            <a:avLst>
              <a:gd name="adj" fmla="val 50000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4754880"/>
            <a:ext cx="676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0784" y="4754880"/>
            <a:ext cx="844906" cy="384048"/>
          </a:xfrm>
          <a:prstGeom prst="roundRect">
            <a:avLst>
              <a:gd name="adj" fmla="val 50000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00784" y="4754880"/>
            <a:ext cx="8449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1994" y="4754880"/>
            <a:ext cx="844906" cy="384048"/>
          </a:xfrm>
          <a:prstGeom prst="roundRect">
            <a:avLst>
              <a:gd name="adj" fmla="val 50000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1994" y="4754880"/>
            <a:ext cx="8449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83203" y="4754880"/>
            <a:ext cx="1013155" cy="384048"/>
          </a:xfrm>
          <a:prstGeom prst="roundRect">
            <a:avLst>
              <a:gd name="adj" fmla="val 50000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83203" y="4754880"/>
            <a:ext cx="10131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" y="523036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" y="52303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07608" y="2057400"/>
            <a:ext cx="5617159" cy="3657600"/>
          </a:xfrm>
          <a:prstGeom prst="roundRect">
            <a:avLst>
              <a:gd name="adj" fmla="val 3500"/>
            </a:avLst>
          </a:prstGeom>
          <a:solidFill>
            <a:srgbClr val="141A3C"/>
          </a:solidFill>
          <a:ln/>
          <a:effectLst>
            <a:outerShdw blurRad="114300" dist="38100" dir="5400000" algn="bl" rotWithShape="0">
              <a:srgbClr val="7C80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18504" y="2295144"/>
            <a:ext cx="50685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NAVIGATION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18504" y="2734056"/>
            <a:ext cx="4995367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64808" y="2734056"/>
            <a:ext cx="47027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75704" y="3300984"/>
            <a:ext cx="4538167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22008" y="3300984"/>
            <a:ext cx="42455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Mathematics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32904" y="3867912"/>
            <a:ext cx="4080967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79208" y="3867912"/>
            <a:ext cx="37883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Algebra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64808" y="4480560"/>
            <a:ext cx="740664" cy="402336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64808" y="4480560"/>
            <a:ext cx="740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80560"/>
            <a:ext cx="826618" cy="402336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51776" y="4480560"/>
            <a:ext cx="82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4698" y="4480560"/>
            <a:ext cx="1514246" cy="402336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4698" y="4480560"/>
            <a:ext cx="15142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85248" y="4480560"/>
            <a:ext cx="1084478" cy="402336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85248" y="4480560"/>
            <a:ext cx="108447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64808" y="4992624"/>
            <a:ext cx="912571" cy="402336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64808" y="4992624"/>
            <a:ext cx="91257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EduAI Mock Lab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exam style practice environment that builds speed, accuracy and confidence.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76272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228087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0574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Chapter, subject and full syllabus tests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898648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301752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27" y="312212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289864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based and previous mistake tests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3739896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31520" y="3858768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" y="396337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373989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Timer, question navigation and mark for review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66928" y="4581144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31520" y="4700016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27" y="4804623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458114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save, auto submit and instant results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81928" y="2057400"/>
            <a:ext cx="5342839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114300" dist="38100" dir="5400000" algn="bl" rotWithShape="0">
              <a:srgbClr val="7C80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281928" y="2057400"/>
            <a:ext cx="5342839" cy="676656"/>
          </a:xfrm>
          <a:prstGeom prst="roundRect">
            <a:avLst>
              <a:gd name="adj" fmla="val 18919"/>
            </a:avLst>
          </a:prstGeom>
          <a:solidFill>
            <a:srgbClr val="141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281928" y="2423160"/>
            <a:ext cx="5342839" cy="310896"/>
          </a:xfrm>
          <a:prstGeom prst="rect">
            <a:avLst/>
          </a:prstGeom>
          <a:solidFill>
            <a:srgbClr val="141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556248" y="2057400"/>
            <a:ext cx="3514039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·  Algebra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0161727" y="222199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0161727" y="22219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14:32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56248" y="2898648"/>
            <a:ext cx="47941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Solve for x:  3x + 7 = 25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556248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556248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050024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050024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43800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754380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037576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8037576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531352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8531352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025128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9025128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18904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FAE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9518904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10012680" y="34747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1001268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556248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556248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050024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7050024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7543800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7543800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8037576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8037576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8531352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8531352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9025128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9025128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9518904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/>
          <p:nvPr/>
        </p:nvSpPr>
        <p:spPr>
          <a:xfrm>
            <a:off x="9518904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10012680" y="39684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10012680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6556248" y="4617720"/>
            <a:ext cx="146304" cy="146304"/>
          </a:xfrm>
          <a:prstGeom prst="ellipse">
            <a:avLst/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/>
          <p:nvPr/>
        </p:nvSpPr>
        <p:spPr>
          <a:xfrm>
            <a:off x="6757416" y="45354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950" dirty="0"/>
          </a:p>
        </p:txBody>
      </p:sp>
      <p:sp>
        <p:nvSpPr>
          <p:cNvPr id="62" name="Shape 56"/>
          <p:cNvSpPr/>
          <p:nvPr/>
        </p:nvSpPr>
        <p:spPr>
          <a:xfrm>
            <a:off x="7927848" y="4617720"/>
            <a:ext cx="146304" cy="146304"/>
          </a:xfrm>
          <a:prstGeom prst="ellipse">
            <a:avLst/>
          </a:prstGeom>
          <a:solidFill>
            <a:srgbClr val="1FAE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8129016" y="4535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9208008" y="449884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/>
          <p:nvPr/>
        </p:nvSpPr>
        <p:spPr>
          <a:xfrm>
            <a:off x="9208008" y="44988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for review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67" name="Text 6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 Analysis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every test, a supportive report that explains the why behind every lost mark.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48463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2768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770632"/>
            <a:ext cx="42428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gaps and weak fundamentals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Calculation, formula and interpretation slips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and presentation issues</a:t>
            </a:r>
            <a:endParaRPr lang="en-US" sz="1250" dirty="0"/>
          </a:p>
          <a:p>
            <a:pPr marL="228600" indent="-2286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and chapter wise weak areas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" y="4663440"/>
            <a:ext cx="4261104" cy="868680"/>
          </a:xfrm>
          <a:prstGeom prst="roundRect">
            <a:avLst>
              <a:gd name="adj" fmla="val 10526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46634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Notebook   </a:t>
            </a:r>
            <a:r>
              <a:rPr lang="en-US" sz="110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is saved automatically for later revision, subject by subject.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79008" y="2057400"/>
            <a:ext cx="5845759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114300" dist="38100" dir="5400000" algn="bl" rotWithShape="0">
              <a:srgbClr val="7C80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9904" y="2276856"/>
            <a:ext cx="52971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2660904"/>
            <a:ext cx="1619402" cy="841248"/>
          </a:xfrm>
          <a:prstGeom prst="roundRect">
            <a:avLst>
              <a:gd name="adj" fmla="val 10870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9904" y="2752344"/>
            <a:ext cx="16194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42/50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89904" y="3163824"/>
            <a:ext cx="1619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92186" y="2660904"/>
            <a:ext cx="1619402" cy="841248"/>
          </a:xfrm>
          <a:prstGeom prst="roundRect">
            <a:avLst>
              <a:gd name="adj" fmla="val 1087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92186" y="2752344"/>
            <a:ext cx="16194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92186" y="3163824"/>
            <a:ext cx="1619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4469" y="2660904"/>
            <a:ext cx="1619402" cy="841248"/>
          </a:xfrm>
          <a:prstGeom prst="roundRect">
            <a:avLst>
              <a:gd name="adj" fmla="val 10870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4469" y="2752344"/>
            <a:ext cx="16194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94469" y="3163824"/>
            <a:ext cx="1619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3685032"/>
            <a:ext cx="5223967" cy="960120"/>
          </a:xfrm>
          <a:prstGeom prst="roundRect">
            <a:avLst>
              <a:gd name="adj" fmla="val 9524"/>
            </a:avLst>
          </a:prstGeom>
          <a:solidFill>
            <a:srgbClr val="FFF8EC"/>
          </a:solidFill>
          <a:ln w="12700">
            <a:solidFill>
              <a:srgbClr val="F3D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9904" y="3685032"/>
            <a:ext cx="64008" cy="9601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91072" y="3739896"/>
            <a:ext cx="4967935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5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understood the method but lost marks on a calculation slip in the final step. Practise 3 similar questions to strengthen accuracy.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9904" y="4782312"/>
            <a:ext cx="52971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9904" y="5111496"/>
            <a:ext cx="2073859" cy="384048"/>
          </a:xfrm>
          <a:prstGeom prst="roundRect">
            <a:avLst>
              <a:gd name="adj" fmla="val 50000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9904" y="5111496"/>
            <a:ext cx="207385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Revise: Linear equations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91779" y="5111496"/>
            <a:ext cx="1474013" cy="384048"/>
          </a:xfrm>
          <a:prstGeom prst="roundRect">
            <a:avLst>
              <a:gd name="adj" fmla="val 50000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91779" y="5111496"/>
            <a:ext cx="147401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in 3 days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93808" y="5111496"/>
            <a:ext cx="1773936" cy="384048"/>
          </a:xfrm>
          <a:prstGeom prst="roundRect">
            <a:avLst>
              <a:gd name="adj" fmla="val 50000"/>
            </a:avLst>
          </a:prstGeom>
          <a:solidFill>
            <a:srgbClr val="EE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93808" y="511149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practice questions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EduAI Arena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competition that rewards growth, not just rank.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27685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beyond marks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9536" y="2734056"/>
            <a:ext cx="2272284" cy="713232"/>
          </a:xfrm>
          <a:prstGeom prst="roundRect">
            <a:avLst>
              <a:gd name="adj" fmla="val 12821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88036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77" y="2972897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17904" y="2734056"/>
            <a:ext cx="15407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Improved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1276" y="2734056"/>
            <a:ext cx="2272284" cy="713232"/>
          </a:xfrm>
          <a:prstGeom prst="roundRect">
            <a:avLst>
              <a:gd name="adj" fmla="val 12821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97580" y="288036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117" y="2972897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9644" y="2734056"/>
            <a:ext cx="15407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59536" y="3593592"/>
            <a:ext cx="2272284" cy="713232"/>
          </a:xfrm>
          <a:prstGeom prst="roundRect">
            <a:avLst>
              <a:gd name="adj" fmla="val 12821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005840" y="37398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377" y="3832433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17904" y="3593592"/>
            <a:ext cx="15407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Consistency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351276" y="3593592"/>
            <a:ext cx="2272284" cy="713232"/>
          </a:xfrm>
          <a:prstGeom prst="roundRect">
            <a:avLst>
              <a:gd name="adj" fmla="val 12821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497580" y="37398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117" y="383243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09644" y="3593592"/>
            <a:ext cx="15407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Comeback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59536" y="4453128"/>
            <a:ext cx="2272284" cy="713232"/>
          </a:xfrm>
          <a:prstGeom prst="roundRect">
            <a:avLst>
              <a:gd name="adj" fmla="val 12821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05840" y="459943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77" y="4691969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17904" y="4453128"/>
            <a:ext cx="15407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Weak Topic Gain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3351276" y="4453128"/>
            <a:ext cx="2272284" cy="713232"/>
          </a:xfrm>
          <a:prstGeom prst="roundRect">
            <a:avLst>
              <a:gd name="adj" fmla="val 12821"/>
            </a:avLst>
          </a:prstGeom>
          <a:solidFill>
            <a:srgbClr val="F2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3497580" y="459943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0117" y="4691969"/>
            <a:ext cx="235549" cy="23554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09644" y="4453128"/>
            <a:ext cx="15407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Best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859536" y="5367528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B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Leaderboards, streaks and badges build consistent habits without pressure.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281928" y="2057400"/>
            <a:ext cx="5342839" cy="3657600"/>
          </a:xfrm>
          <a:prstGeom prst="roundRect">
            <a:avLst>
              <a:gd name="adj" fmla="val 3500"/>
            </a:avLst>
          </a:prstGeom>
          <a:solidFill>
            <a:srgbClr val="141A3C"/>
          </a:solidFill>
          <a:ln/>
          <a:effectLst>
            <a:outerShdw blurRad="114300" dist="38100" dir="5400000" algn="bl" rotWithShape="0">
              <a:srgbClr val="7C80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6592824" y="2295144"/>
            <a:ext cx="47941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TOPPER STRATEGY BREAKDOWN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592824" y="2624328"/>
            <a:ext cx="47210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the top scorer actually worked, then learn the approach rather than only the score.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647688" y="342900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6922008" y="3355848"/>
            <a:ext cx="44284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question   </a:t>
            </a: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minutes were spent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647688" y="39319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6922008" y="3858768"/>
            <a:ext cx="44284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order   </a:t>
            </a: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questions came first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647688" y="44348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6922008" y="4361688"/>
            <a:ext cx="44284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pattern   </a:t>
            </a: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weak stretches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647688" y="493776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6922008" y="4864608"/>
            <a:ext cx="44284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topics   </a:t>
            </a: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scoring areas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592824" y="5111496"/>
            <a:ext cx="4721047" cy="512064"/>
          </a:xfrm>
          <a:prstGeom prst="roundRect">
            <a:avLst>
              <a:gd name="adj" fmla="val 17857"/>
            </a:avLst>
          </a:prstGeom>
          <a:solidFill>
            <a:srgbClr val="F5A623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6739128" y="5111496"/>
            <a:ext cx="44284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FFE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top scorer spent less time on easy questions to protect time for application problems.”</a:t>
            </a:r>
            <a:endParaRPr lang="en-US" sz="980" dirty="0"/>
          </a:p>
        </p:txBody>
      </p:sp>
      <p:sp>
        <p:nvSpPr>
          <p:cNvPr id="45" name="Text 37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Marking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side evaluation support that reads the paper, the scheme and the script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340864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9" y="2449495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1488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3227832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9808" y="3419856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39" y="3528487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32278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Scheme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4306824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49808" y="4498848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9" y="4607479"/>
            <a:ext cx="276515" cy="2765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4306824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Script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172968" y="33832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5A623"/>
                </a:solidFill>
              </a:rPr>
              <a:t>›</a:t>
            </a:r>
            <a:endParaRPr lang="en-US" sz="4000" dirty="0"/>
          </a:p>
        </p:txBody>
      </p:sp>
      <p:sp>
        <p:nvSpPr>
          <p:cNvPr id="18" name="Shape 13"/>
          <p:cNvSpPr/>
          <p:nvPr/>
        </p:nvSpPr>
        <p:spPr>
          <a:xfrm>
            <a:off x="3813048" y="2240280"/>
            <a:ext cx="3200400" cy="3017520"/>
          </a:xfrm>
          <a:prstGeom prst="roundRect">
            <a:avLst>
              <a:gd name="adj" fmla="val 4848"/>
            </a:avLst>
          </a:prstGeom>
          <a:solidFill>
            <a:srgbClr val="141A3C"/>
          </a:solidFill>
          <a:ln/>
          <a:effectLst>
            <a:outerShdw blurRad="114300" dist="38100" dir="5400000" algn="bl" rotWithShape="0">
              <a:srgbClr val="7C80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514600"/>
            <a:ext cx="585216" cy="5852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13048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123944" y="36118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question wise marks with reasons</a:t>
            </a:r>
            <a:endParaRPr lang="en-US" sz="108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under and over marking</a:t>
            </a:r>
            <a:endParaRPr lang="en-US" sz="108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partial marks and ECF</a:t>
            </a:r>
            <a:endParaRPr lang="en-US" sz="1080" dirty="0"/>
          </a:p>
          <a:p>
            <a:pPr marL="203200" indent="-2032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missing steps and slips</a:t>
            </a:r>
            <a:endParaRPr lang="en-US" sz="1080" dirty="0"/>
          </a:p>
        </p:txBody>
      </p:sp>
      <p:sp>
        <p:nvSpPr>
          <p:cNvPr id="22" name="Text 16"/>
          <p:cNvSpPr/>
          <p:nvPr/>
        </p:nvSpPr>
        <p:spPr>
          <a:xfrm>
            <a:off x="7013448" y="33832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5A623"/>
                </a:solidFill>
              </a:rPr>
              <a:t>›</a:t>
            </a:r>
            <a:endParaRPr lang="en-US" sz="4000" dirty="0"/>
          </a:p>
        </p:txBody>
      </p:sp>
      <p:sp>
        <p:nvSpPr>
          <p:cNvPr id="23" name="Shape 17"/>
          <p:cNvSpPr/>
          <p:nvPr/>
        </p:nvSpPr>
        <p:spPr>
          <a:xfrm>
            <a:off x="7653528" y="2240280"/>
            <a:ext cx="3971239" cy="3017520"/>
          </a:xfrm>
          <a:prstGeom prst="roundRect">
            <a:avLst>
              <a:gd name="adj" fmla="val 4848"/>
            </a:avLst>
          </a:prstGeom>
          <a:solidFill>
            <a:srgbClr val="DCF1EE"/>
          </a:solidFill>
          <a:ln/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6540" y="2569464"/>
            <a:ext cx="585216" cy="58521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53528" y="3264408"/>
            <a:ext cx="39712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Decides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872984" y="3703320"/>
            <a:ext cx="353232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B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suggestions, adjusts where needed and confirms the final marks.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66928" y="548640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141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566928" y="548640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always holds final authority.   </a:t>
            </a:r>
            <a:r>
              <a:rPr lang="en-US" sz="1250" dirty="0">
                <a:solidFill>
                  <a:srgbClr val="E4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assists with consistency and evidence, it never decides.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INTEGRITY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ExamVault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an exam ends, the original answer script becomes a locked digital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66648" y="224028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56" y="2551176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9256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Upload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59256" y="3538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are scanned at source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92728" y="2788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5A623"/>
                </a:solidFill>
              </a:rPr>
              <a:t>›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632808" y="224028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16" y="2551176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5416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Record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25416" y="3538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the official copy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558888" y="2788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5A623"/>
                </a:solidFill>
              </a:rPr>
              <a:t>›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8198968" y="224028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576" y="2551176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1576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Evident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91576" y="3538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original for any dispute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CARRIES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66928" y="480060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66928" y="48006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901952" y="4800600"/>
            <a:ext cx="912571" cy="420624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901952" y="4800600"/>
            <a:ext cx="91257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979115" y="4800600"/>
            <a:ext cx="1084478" cy="420624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2979115" y="4800600"/>
            <a:ext cx="108447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name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228186" y="4800600"/>
            <a:ext cx="654710" cy="420624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228186" y="4800600"/>
            <a:ext cx="65471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047488" y="4800600"/>
            <a:ext cx="1084478" cy="420624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047488" y="4800600"/>
            <a:ext cx="108447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96558" y="4800600"/>
            <a:ext cx="1772107" cy="420624"/>
          </a:xfrm>
          <a:prstGeom prst="roundRect">
            <a:avLst>
              <a:gd name="adj" fmla="val 50000"/>
            </a:avLst>
          </a:prstGeom>
          <a:solidFill>
            <a:srgbClr val="1E2552"/>
          </a:solidFill>
          <a:ln w="12700">
            <a:solidFill>
              <a:srgbClr val="33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296558" y="4800600"/>
            <a:ext cx="177210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status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66928" y="5486400"/>
            <a:ext cx="11057839" cy="566928"/>
          </a:xfrm>
          <a:prstGeom prst="roundRect">
            <a:avLst>
              <a:gd name="adj" fmla="val 19355"/>
            </a:avLst>
          </a:prstGeom>
          <a:solidFill>
            <a:srgbClr val="F5A623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66928" y="548640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prevent alteration of physical scripts before rechecking, and give a trusted original for every re evaluation.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evaluation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rechecking with a complete, permanent audit trail.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2872" y="2057400"/>
            <a:ext cx="25420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5752" y="2350008"/>
            <a:ext cx="384048" cy="384048"/>
          </a:xfrm>
          <a:prstGeom prst="ellipse">
            <a:avLst/>
          </a:prstGeom>
          <a:solidFill>
            <a:srgbClr val="1FAE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5752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49528" y="205740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raises request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14904" y="2194560"/>
            <a:ext cx="292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A623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07512" y="2057400"/>
            <a:ext cx="25420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90392" y="2350008"/>
            <a:ext cx="384048" cy="384048"/>
          </a:xfrm>
          <a:prstGeom prst="ellipse">
            <a:avLst/>
          </a:prstGeom>
          <a:solidFill>
            <a:srgbClr val="1FAE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90392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84168" y="205740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HOD reviews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9544" y="2194560"/>
            <a:ext cx="292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A623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42152" y="2057400"/>
            <a:ext cx="25420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5032" y="2350008"/>
            <a:ext cx="384048" cy="384048"/>
          </a:xfrm>
          <a:prstGeom prst="ellipse">
            <a:avLst/>
          </a:prstGeom>
          <a:solidFill>
            <a:srgbClr val="1FAE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5032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18808" y="205740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script, scheme, marks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84184" y="2194560"/>
            <a:ext cx="292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A623"/>
                </a:solidFill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076792" y="2057400"/>
            <a:ext cx="25420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59672" y="2350008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59672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53448" y="2057400"/>
            <a:ext cx="17190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 ·  EVERY CHANGE IS RECORDED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1842973" cy="457200"/>
          </a:xfrm>
          <a:prstGeom prst="rect">
            <a:avLst/>
          </a:prstGeom>
          <a:solidFill>
            <a:srgbClr val="141A3C"/>
          </a:solidFill>
          <a:ln w="12700">
            <a:solidFill>
              <a:srgbClr val="2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marks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66928" y="4251960"/>
            <a:ext cx="184297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16966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09901" y="3794760"/>
            <a:ext cx="1842973" cy="457200"/>
          </a:xfrm>
          <a:prstGeom prst="rect">
            <a:avLst/>
          </a:prstGeom>
          <a:solidFill>
            <a:srgbClr val="141A3C"/>
          </a:solidFill>
          <a:ln w="12700">
            <a:solidFill>
              <a:srgbClr val="2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83053" y="379476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2409901" y="4251960"/>
            <a:ext cx="184297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83053" y="4251960"/>
            <a:ext cx="16966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52874" y="3794760"/>
            <a:ext cx="1842973" cy="457200"/>
          </a:xfrm>
          <a:prstGeom prst="rect">
            <a:avLst/>
          </a:prstGeom>
          <a:solidFill>
            <a:srgbClr val="141A3C"/>
          </a:solidFill>
          <a:ln w="12700">
            <a:solidFill>
              <a:srgbClr val="2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26026" y="379476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final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4252874" y="4251960"/>
            <a:ext cx="184297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26026" y="4251960"/>
            <a:ext cx="16966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5848" y="3794760"/>
            <a:ext cx="1842973" cy="457200"/>
          </a:xfrm>
          <a:prstGeom prst="rect">
            <a:avLst/>
          </a:prstGeom>
          <a:solidFill>
            <a:srgbClr val="141A3C"/>
          </a:solidFill>
          <a:ln w="12700">
            <a:solidFill>
              <a:srgbClr val="2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69000" y="379476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095848" y="4251960"/>
            <a:ext cx="1842973" cy="566928"/>
          </a:xfrm>
          <a:prstGeom prst="rect">
            <a:avLst/>
          </a:prstGeom>
          <a:solidFill>
            <a:srgbClr val="FCEFD6"/>
          </a:solidFill>
          <a:ln w="12700">
            <a:solidFill>
              <a:srgbClr val="E7E9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69000" y="4251960"/>
            <a:ext cx="16966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38821" y="3794760"/>
            <a:ext cx="1842973" cy="457200"/>
          </a:xfrm>
          <a:prstGeom prst="rect">
            <a:avLst/>
          </a:prstGeom>
          <a:solidFill>
            <a:srgbClr val="141A3C"/>
          </a:solidFill>
          <a:ln w="12700">
            <a:solidFill>
              <a:srgbClr val="2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11973" y="379476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938821" y="4251960"/>
            <a:ext cx="184297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11973" y="4251960"/>
            <a:ext cx="16966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mark missed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81794" y="3794760"/>
            <a:ext cx="1842973" cy="457200"/>
          </a:xfrm>
          <a:prstGeom prst="rect">
            <a:avLst/>
          </a:prstGeom>
          <a:solidFill>
            <a:srgbClr val="141A3C"/>
          </a:solidFill>
          <a:ln w="12700">
            <a:solidFill>
              <a:srgbClr val="2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854946" y="3794760"/>
            <a:ext cx="1696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reviewer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9781794" y="4251960"/>
            <a:ext cx="1842973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854946" y="4251960"/>
            <a:ext cx="169666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Jun · Ms. Rao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" y="5440680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EA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1248" y="5440680"/>
            <a:ext cx="105091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marks, AI suggestion, teacher decision, reason and reviewer are all preserved, so every outcome can be explained.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4754880" cy="4754880"/>
          </a:xfrm>
          <a:prstGeom prst="ellipse">
            <a:avLst/>
          </a:prstGeom>
          <a:solidFill>
            <a:srgbClr val="1FAE9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 · 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Promi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B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friendly, animated study companion that makes the platform one students want to open.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3383280" cy="3904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2148840"/>
            <a:ext cx="612648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626864" y="2304288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75504" y="21488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Ready to learn today?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2898648"/>
            <a:ext cx="6126480" cy="548640"/>
          </a:xfrm>
          <a:prstGeom prst="roundRect">
            <a:avLst>
              <a:gd name="adj" fmla="val 26667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26864" y="3054096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75504" y="289864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improved in probability this week.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37760" y="3648456"/>
            <a:ext cx="612648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26864" y="388620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75504" y="3648456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lost marks on calculation, not concept. Let us fix that.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4562856"/>
            <a:ext cx="6126480" cy="548640"/>
          </a:xfrm>
          <a:prstGeom prst="roundRect">
            <a:avLst>
              <a:gd name="adj" fmla="val 26667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26864" y="4718304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75504" y="456285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quick 10 minute revision quiz?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937760" y="5349240"/>
            <a:ext cx="6126480" cy="512064"/>
          </a:xfrm>
          <a:prstGeom prst="roundRect">
            <a:avLst>
              <a:gd name="adj" fmla="val 17857"/>
            </a:avLst>
          </a:prstGeom>
          <a:solidFill>
            <a:srgbClr val="F5A623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20640" y="5349240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adaptive interface: playful for younger students, performance focused for seniors.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and Admin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single, live view of performance, marking quality and academic integrity.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615184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73152" cy="1143000"/>
          </a:xfrm>
          <a:prstGeom prst="rect">
            <a:avLst/>
          </a:prstGeom>
          <a:solidFill>
            <a:srgbClr val="128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185416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participation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057400"/>
            <a:ext cx="2615184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2057400"/>
            <a:ext cx="73152" cy="1143000"/>
          </a:xfrm>
          <a:prstGeom prst="rect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66744" y="2185416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8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85032" y="280720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91072" y="2057400"/>
            <a:ext cx="2615184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91072" y="2057400"/>
            <a:ext cx="73152" cy="1143000"/>
          </a:xfrm>
          <a:prstGeom prst="rect">
            <a:avLst/>
          </a:prstGeom>
          <a:solidFill>
            <a:srgbClr val="2B31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28816" y="2185416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31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47104" y="280720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eval requests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53144" y="2057400"/>
            <a:ext cx="2615184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53144" y="2057400"/>
            <a:ext cx="73152" cy="11430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90888" y="2185416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409176" y="280720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alerts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429000"/>
            <a:ext cx="6035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" y="359359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by grade</a:t>
            </a:r>
            <a:endParaRPr lang="en-US" sz="12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749808" y="3931920"/>
          <a:ext cx="56692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6967728" y="3429000"/>
            <a:ext cx="4657039" cy="2148840"/>
          </a:xfrm>
          <a:prstGeom prst="roundRect">
            <a:avLst>
              <a:gd name="adj" fmla="val 5106"/>
            </a:avLst>
          </a:prstGeom>
          <a:solidFill>
            <a:srgbClr val="141A3C"/>
          </a:solidFill>
          <a:ln/>
          <a:effectLst>
            <a:outerShdw blurRad="114300" dist="38100" dir="5400000" algn="bl" rotWithShape="0">
              <a:srgbClr val="7C80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37216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845552" y="3758184"/>
            <a:ext cx="35597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278624" y="4325112"/>
            <a:ext cx="403524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“70% of Class 9 students struggled with probability tree diagrams. Consider reteaching this concept.”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278624" y="5184648"/>
            <a:ext cx="403524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subject · chapter · teacher and integrity views, all in one place.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28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Everyone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8314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3F4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that serves students, teachers and management at the same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584448" cy="3657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2368296"/>
            <a:ext cx="713232" cy="713232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35" y="2525207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368296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3337560"/>
            <a:ext cx="29809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mistake analysis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explanations and practice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improvement plans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through visible progress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8264" y="2057400"/>
            <a:ext cx="3584448" cy="3657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2368296"/>
            <a:ext cx="713232" cy="713232"/>
          </a:xfrm>
          <a:prstGeom prst="roundRect">
            <a:avLst>
              <a:gd name="adj" fmla="val 2600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071" y="2525207"/>
            <a:ext cx="399410" cy="3994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2368296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27448" y="3337560"/>
            <a:ext cx="29809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evaluation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repetitive checking load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student weakness reports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re evaluation handling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57400"/>
            <a:ext cx="3584448" cy="3657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3"/>
            </a:solidFill>
            <a:prstDash val="solid"/>
          </a:ln>
          <a:effectLst>
            <a:outerShdw blurRad="88900" dist="25400" dir="5400000" algn="bl" rotWithShape="0">
              <a:srgbClr val="9AA0B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540496" y="2368296"/>
            <a:ext cx="713232" cy="713232"/>
          </a:xfrm>
          <a:prstGeom prst="roundRect">
            <a:avLst>
              <a:gd name="adj" fmla="val 26000"/>
            </a:avLst>
          </a:prstGeom>
          <a:solidFill>
            <a:srgbClr val="DCF1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407" y="2525207"/>
            <a:ext cx="399410" cy="3994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81744" y="2368296"/>
            <a:ext cx="2212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58784" y="3337560"/>
            <a:ext cx="29809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academic visibility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evaluation integrity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academic decisions</a:t>
            </a:r>
            <a:endParaRPr lang="en-US" sz="12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4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parent confidence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8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486400" cy="54864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3657600"/>
            <a:ext cx="4937760" cy="4937760"/>
          </a:xfrm>
          <a:prstGeom prst="ellipse">
            <a:avLst/>
          </a:prstGeom>
          <a:solidFill>
            <a:srgbClr val="1FAE9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1FA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0467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Begin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BD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seek approval to proceed to detailed planning and a focused prototype, delivered in phases, starting with the foundation modules.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6880" y="2697480"/>
            <a:ext cx="1993392" cy="1965960"/>
          </a:xfrm>
          <a:prstGeom prst="roundRect">
            <a:avLst>
              <a:gd name="adj" fmla="val 6512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7544" y="2935224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7544" y="2935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6880" y="359359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9760" y="394106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Library, login and teacher uploads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68016" y="2697480"/>
            <a:ext cx="1993392" cy="1965960"/>
          </a:xfrm>
          <a:prstGeom prst="roundRect">
            <a:avLst>
              <a:gd name="adj" fmla="val 6512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08680" y="2935224"/>
            <a:ext cx="512064" cy="512064"/>
          </a:xfrm>
          <a:prstGeom prst="ellipse">
            <a:avLst/>
          </a:prstGeom>
          <a:solidFill>
            <a:srgbClr val="262E63"/>
          </a:solidFill>
          <a:ln w="12700">
            <a:solidFill>
              <a:srgbClr val="3A4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08680" y="2935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8016" y="359359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50896" y="394106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Lab and AI Self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9152" y="2697480"/>
            <a:ext cx="1993392" cy="1965960"/>
          </a:xfrm>
          <a:prstGeom prst="roundRect">
            <a:avLst>
              <a:gd name="adj" fmla="val 6512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39816" y="2935224"/>
            <a:ext cx="512064" cy="512064"/>
          </a:xfrm>
          <a:prstGeom prst="ellipse">
            <a:avLst/>
          </a:prstGeom>
          <a:solidFill>
            <a:srgbClr val="262E63"/>
          </a:solidFill>
          <a:ln w="12700">
            <a:solidFill>
              <a:srgbClr val="3A4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9816" y="2935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99152" y="359359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2032" y="394106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Marking Assistant and ExamVault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0288" y="2697480"/>
            <a:ext cx="1993392" cy="1965960"/>
          </a:xfrm>
          <a:prstGeom prst="roundRect">
            <a:avLst>
              <a:gd name="adj" fmla="val 6512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70952" y="2935224"/>
            <a:ext cx="512064" cy="512064"/>
          </a:xfrm>
          <a:prstGeom prst="ellipse">
            <a:avLst/>
          </a:prstGeom>
          <a:solidFill>
            <a:srgbClr val="262E63"/>
          </a:solidFill>
          <a:ln w="12700">
            <a:solidFill>
              <a:srgbClr val="3A4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70952" y="2935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0288" y="359359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13168" y="394106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evaluation Portal and HOD Dashboard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61424" y="2697480"/>
            <a:ext cx="1993392" cy="1965960"/>
          </a:xfrm>
          <a:prstGeom prst="roundRect">
            <a:avLst>
              <a:gd name="adj" fmla="val 6512"/>
            </a:avLst>
          </a:prstGeom>
          <a:solidFill>
            <a:srgbClr val="1E2552"/>
          </a:solidFill>
          <a:ln w="12700">
            <a:solidFill>
              <a:srgbClr val="2E36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302088" y="2935224"/>
            <a:ext cx="512064" cy="512064"/>
          </a:xfrm>
          <a:prstGeom prst="ellipse">
            <a:avLst/>
          </a:prstGeom>
          <a:solidFill>
            <a:srgbClr val="262E63"/>
          </a:solidFill>
          <a:ln w="12700">
            <a:solidFill>
              <a:srgbClr val="3A4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302088" y="2935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61424" y="3593592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44304" y="3941064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EduAI Arena, Promi and advanced analytics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513892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Learning.   Fairer Evaluation.   Stronger Integrity.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6928" y="5650992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   ·   Presented for approval to school leadership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4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EduAI</a:t>
            </a:r>
            <a:r>
              <a:rPr lang="en-US" sz="850" kern="0" spc="4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Concept Approval Proposal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Microsoft Office PowerPoint</Application>
  <PresentationFormat>Widescreen</PresentationFormat>
  <Paragraphs>311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 EduAI</dc:title>
  <dc:subject>PptxGenJS Presentation</dc:subject>
  <dc:creator>Prometheus School</dc:creator>
  <cp:lastModifiedBy>Aaryan Kansal</cp:lastModifiedBy>
  <cp:revision>3</cp:revision>
  <dcterms:created xsi:type="dcterms:W3CDTF">2026-06-08T09:57:02Z</dcterms:created>
  <dcterms:modified xsi:type="dcterms:W3CDTF">2026-06-08T13:56:54Z</dcterms:modified>
</cp:coreProperties>
</file>